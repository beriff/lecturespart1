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EFE9DB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30875" y="444500"/>
            <a:ext cx="730250" cy="241300"/>
          </a:xfrm>
          <a:prstGeom prst="roundRect">
            <a:avLst>
              <a:gd name="adj" fmla="val 50000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1C"/>
                </a:solidFill>
                <a:latin typeface="Inter"/>
              </a:rPr>
              <a:t>Подбор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20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EFE9DB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FE9DB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DD49D"/>
                </a:solidFill>
                <a:latin typeface="Inter"/>
              </a:rPr>
              <a:t>01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1333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ПОИСК И ОЦЕНКА КОММЕРЧЕСКИХ ЛОКАЦИЙ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587500"/>
            <a:ext cx="6350000" cy="569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 i="0">
                <a:solidFill>
                  <a:srgbClr val="EFE9DB"/>
                </a:solidFill>
                <a:latin typeface="Manrope"/>
              </a:rPr>
              <a:t>Находит помещение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" y="2081276"/>
            <a:ext cx="6350000" cy="569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 i="0">
                <a:solidFill>
                  <a:srgbClr val="EFE9DB"/>
                </a:solidFill>
                <a:latin typeface="Manrope"/>
              </a:rPr>
              <a:t>и говорит,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00" y="2575052"/>
            <a:ext cx="6350000" cy="569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 i="0">
                <a:solidFill>
                  <a:srgbClr val="6BD79A"/>
                </a:solidFill>
                <a:latin typeface="Manrope"/>
              </a:rPr>
              <a:t>стоит ли его брать</a:t>
            </a:r>
          </a:p>
        </p:txBody>
      </p:sp>
      <p:sp>
        <p:nvSpPr>
          <p:cNvPr id="15" name="Oval 14"/>
          <p:cNvSpPr/>
          <p:nvPr/>
        </p:nvSpPr>
        <p:spPr>
          <a:xfrm>
            <a:off x="622300" y="3221228"/>
            <a:ext cx="190500" cy="190500"/>
          </a:xfrm>
          <a:prstGeom prst="ellipse">
            <a:avLst/>
          </a:prstGeom>
          <a:solidFill>
            <a:srgbClr val="F4EEE1"/>
          </a:solidFill>
          <a:ln w="635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9000" y="3221228"/>
            <a:ext cx="190500" cy="190500"/>
          </a:xfrm>
          <a:prstGeom prst="ellipse">
            <a:avLst/>
          </a:prstGeom>
          <a:solidFill>
            <a:srgbClr val="B98F3E"/>
          </a:solidFill>
          <a:ln w="635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5700" y="3221228"/>
            <a:ext cx="190500" cy="190500"/>
          </a:xfrm>
          <a:prstGeom prst="ellipse">
            <a:avLst/>
          </a:prstGeom>
          <a:solidFill>
            <a:srgbClr val="1B2C3F"/>
          </a:solidFill>
          <a:ln w="635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2400" y="3221228"/>
            <a:ext cx="190500" cy="190500"/>
          </a:xfrm>
          <a:prstGeom prst="ellipse">
            <a:avLst/>
          </a:prstGeom>
          <a:solidFill>
            <a:srgbClr val="C0392B"/>
          </a:solidFill>
          <a:ln w="635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300" y="3614928"/>
            <a:ext cx="596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4B7"/>
                </a:solidFill>
                <a:latin typeface="Inter"/>
              </a:rPr>
              <a:t>Поиск по всем площадкам сразу и аналитика локации на </a:t>
            </a:r>
            <a:r>
              <a:rPr sz="1600" b="1" i="0">
                <a:solidFill>
                  <a:srgbClr val="6BD79A"/>
                </a:solidFill>
                <a:latin typeface="Inter"/>
              </a:rPr>
              <a:t>предобученном 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00" y="4313428"/>
            <a:ext cx="622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A7A294"/>
                </a:solidFill>
                <a:latin typeface="Inter"/>
              </a:rPr>
              <a:t>Циан · Авито · Яндекс · N1 · ДомКлик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12000" y="1905000"/>
            <a:ext cx="4699000" cy="293687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3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050" y="1924050"/>
            <a:ext cx="4660900" cy="2898775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1500" y="45720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FFFF"/>
                </a:solidFill>
                <a:latin typeface="Inter"/>
              </a:rPr>
              <a:t>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4200" y="444500"/>
            <a:ext cx="863600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Проблема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02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01 / 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Пять вкладок, один и тот же объект,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" y="1505458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три разные цены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" y="2159000"/>
            <a:ext cx="1270000" cy="952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300" y="22606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A2A28"/>
                </a:solidFill>
                <a:latin typeface="Manrope"/>
              </a:rPr>
              <a:t>Циан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" y="2489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7C7768"/>
                </a:solidFill>
                <a:latin typeface="Inter"/>
              </a:rPr>
              <a:t>45 000 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3619" y="2730500"/>
            <a:ext cx="685800" cy="228600"/>
          </a:xfrm>
          <a:prstGeom prst="roundRect">
            <a:avLst>
              <a:gd name="adj" fmla="val 33333"/>
            </a:avLst>
          </a:prstGeom>
          <a:noFill/>
          <a:ln w="9525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Inter"/>
              </a:rPr>
              <a:t>дубль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7700" y="24892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B98F3E"/>
                </a:solidFill>
                <a:latin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09800" y="2159000"/>
            <a:ext cx="1270000" cy="952500"/>
          </a:xfrm>
          <a:prstGeom prst="roundRect">
            <a:avLst>
              <a:gd name="adj" fmla="val 13333"/>
            </a:avLst>
          </a:prstGeom>
          <a:solidFill>
            <a:srgbClr val="1A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09800" y="22606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EFE9DB"/>
                </a:solidFill>
                <a:latin typeface="Manrope"/>
              </a:rPr>
              <a:t>Авито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9800" y="2489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9AA197"/>
                </a:solidFill>
                <a:latin typeface="Inter"/>
              </a:rPr>
              <a:t>36 200 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41746" y="2730500"/>
            <a:ext cx="838200" cy="228600"/>
          </a:xfrm>
          <a:prstGeom prst="roundRect">
            <a:avLst>
              <a:gd name="adj" fmla="val 33333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дешевле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5200" y="24892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B98F3E"/>
                </a:solidFill>
                <a:latin typeface="Inter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7300" y="2159000"/>
            <a:ext cx="1270000" cy="952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7300" y="22606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A2A28"/>
                </a:solidFill>
                <a:latin typeface="Manrope"/>
              </a:rPr>
              <a:t>Яндекс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7300" y="2489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7C7768"/>
                </a:solidFill>
                <a:latin typeface="Inter"/>
              </a:rPr>
              <a:t>45 000 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88619" y="2730500"/>
            <a:ext cx="685800" cy="228600"/>
          </a:xfrm>
          <a:prstGeom prst="roundRect">
            <a:avLst>
              <a:gd name="adj" fmla="val 33333"/>
            </a:avLst>
          </a:prstGeom>
          <a:noFill/>
          <a:ln w="9525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Inter"/>
              </a:rPr>
              <a:t>дубль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2700" y="24892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B98F3E"/>
                </a:solidFill>
                <a:latin typeface="Inter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84800" y="2159000"/>
            <a:ext cx="1066800" cy="952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84800" y="2260600"/>
            <a:ext cx="10668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A2A28"/>
                </a:solidFill>
                <a:latin typeface="Manrope"/>
              </a:rPr>
              <a:t>N1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4800" y="2489200"/>
            <a:ext cx="1066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7C7768"/>
                </a:solidFill>
                <a:latin typeface="Inter"/>
              </a:rPr>
              <a:t>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04205" y="2730500"/>
            <a:ext cx="609600" cy="228600"/>
          </a:xfrm>
          <a:prstGeom prst="roundRect">
            <a:avLst>
              <a:gd name="adj" fmla="val 33333"/>
            </a:avLst>
          </a:prstGeom>
          <a:noFill/>
          <a:ln w="9525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Inter"/>
              </a:rPr>
              <a:t>фейк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300" y="3429000"/>
            <a:ext cx="457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Один и тот же объект висит в трёх местах с разной ценой. Агент вручную сверяет вкладки — и всё равно платит посреднику вместо собственника.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3365500"/>
            <a:ext cx="5854700" cy="825500"/>
          </a:xfrm>
          <a:prstGeom prst="roundRect">
            <a:avLst>
              <a:gd name="adj" fmla="val 15384"/>
            </a:avLst>
          </a:prstGeom>
          <a:solidFill>
            <a:srgbClr val="1A241C"/>
          </a:solidFill>
          <a:ln w="38100">
            <a:solidFill>
              <a:srgbClr val="B98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bIns="1270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EFE9DB"/>
                </a:solidFill>
                <a:latin typeface="Inter"/>
              </a:rPr>
              <a:t>Если один менеджер тратит </a:t>
            </a:r>
            <a:r>
              <a:rPr sz="1520" b="1" i="0">
                <a:solidFill>
                  <a:srgbClr val="6BD79A"/>
                </a:solidFill>
                <a:latin typeface="Inter"/>
              </a:rPr>
              <a:t>большую часть рабочего дня</a:t>
            </a:r>
            <a:r>
              <a:rPr sz="1520" b="0" i="0">
                <a:solidFill>
                  <a:srgbClr val="EFE9DB"/>
                </a:solidFill>
                <a:latin typeface="Inter"/>
              </a:rPr>
              <a:t> на ручной поиск и мониторинг сайтов — это время уходит не на сделки, а на рутину.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300" y="4889500"/>
            <a:ext cx="2204720" cy="266700"/>
          </a:xfrm>
          <a:prstGeom prst="roundRect">
            <a:avLst>
              <a:gd name="adj" fmla="val 28571"/>
            </a:avLst>
          </a:prstGeom>
          <a:solidFill>
            <a:srgbClr val="ECE7DC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2A2A28"/>
                </a:solidFill>
                <a:latin typeface="Inter"/>
              </a:rPr>
              <a:t>дубли между площадками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8620" y="4889500"/>
            <a:ext cx="1945640" cy="266700"/>
          </a:xfrm>
          <a:prstGeom prst="roundRect">
            <a:avLst>
              <a:gd name="adj" fmla="val 28571"/>
            </a:avLst>
          </a:prstGeom>
          <a:solidFill>
            <a:srgbClr val="ECE7DC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2A2A28"/>
                </a:solidFill>
                <a:latin typeface="Inter"/>
              </a:rPr>
              <a:t>фейки в объявлениях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75860" y="4889500"/>
            <a:ext cx="2895600" cy="266700"/>
          </a:xfrm>
          <a:prstGeom prst="roundRect">
            <a:avLst>
              <a:gd name="adj" fmla="val 28571"/>
            </a:avLst>
          </a:prstGeom>
          <a:solidFill>
            <a:srgbClr val="ECE7DC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2A2A28"/>
                </a:solidFill>
                <a:latin typeface="Inter"/>
              </a:rPr>
              <a:t>посредники вместо собственника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EFE9DB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97512" y="444500"/>
            <a:ext cx="1196975" cy="241300"/>
          </a:xfrm>
          <a:prstGeom prst="roundRect">
            <a:avLst>
              <a:gd name="adj" fmla="val 50000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1C"/>
                </a:solidFill>
                <a:latin typeface="Inter"/>
              </a:rPr>
              <a:t>Цена проблемы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20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EFE9DB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FE9DB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DD49D"/>
                </a:solidFill>
                <a:latin typeface="Inter"/>
              </a:rPr>
              <a:t>03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02 / ЦЕНА ПРОБЛЕМЫ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EFE9DB"/>
                </a:solidFill>
                <a:latin typeface="Manrope"/>
              </a:rPr>
              <a:t>Ручной обход площадок съедает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" y="1505458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EFE9DB"/>
                </a:solidFill>
                <a:latin typeface="Manrope"/>
              </a:rPr>
              <a:t>больше времени, чем работа с клиентом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" y="2286000"/>
            <a:ext cx="3530600" cy="1905000"/>
          </a:xfrm>
          <a:prstGeom prst="roundRect">
            <a:avLst>
              <a:gd name="adj" fmla="val 7333"/>
            </a:avLst>
          </a:prstGeom>
          <a:solidFill>
            <a:srgbClr val="202B23"/>
          </a:solidFill>
          <a:ln w="6350">
            <a:solidFill>
              <a:srgbClr val="2C37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" y="2400300"/>
            <a:ext cx="3175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6BD79A"/>
                </a:solidFill>
                <a:latin typeface="Manrope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3429000"/>
            <a:ext cx="317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9AA197"/>
                </a:solidFill>
                <a:latin typeface="Inter"/>
              </a:rPr>
              <a:t>площадок агент открывает и сверяет вручную по каждому запросу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0700" y="2286000"/>
            <a:ext cx="3530600" cy="1905000"/>
          </a:xfrm>
          <a:prstGeom prst="roundRect">
            <a:avLst>
              <a:gd name="adj" fmla="val 7333"/>
            </a:avLst>
          </a:prstGeom>
          <a:solidFill>
            <a:srgbClr val="202B23"/>
          </a:solidFill>
          <a:ln w="6350">
            <a:solidFill>
              <a:srgbClr val="2C37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8500" y="2400300"/>
            <a:ext cx="3175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6BD79A"/>
                </a:solidFill>
                <a:latin typeface="Manrope"/>
              </a:rPr>
              <a:t>3×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500" y="3429000"/>
            <a:ext cx="317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9AA197"/>
                </a:solidFill>
                <a:latin typeface="Inter"/>
              </a:rPr>
              <a:t>один объект дублируется на разных сайтах — с разными ценами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9100" y="2286000"/>
            <a:ext cx="3530600" cy="1905000"/>
          </a:xfrm>
          <a:prstGeom prst="roundRect">
            <a:avLst>
              <a:gd name="adj" fmla="val 7333"/>
            </a:avLst>
          </a:prstGeom>
          <a:solidFill>
            <a:srgbClr val="202B23"/>
          </a:solidFill>
          <a:ln w="6350">
            <a:solidFill>
              <a:srgbClr val="2C37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6900" y="2400300"/>
            <a:ext cx="3175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6BD79A"/>
                </a:solidFill>
                <a:latin typeface="Manrope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900" y="3429000"/>
            <a:ext cx="317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9AA197"/>
                </a:solidFill>
                <a:latin typeface="Inter"/>
              </a:rPr>
              <a:t>какие объявления актуальны и где собственник — вручную не видно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300" y="4445000"/>
            <a:ext cx="10477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7B2A5"/>
                </a:solidFill>
                <a:latin typeface="Inter"/>
              </a:rPr>
              <a:t>Точные цифры по вашей воронке подставим на защите. Суть одна: время уходит не на сделку, а на рутину сверки площадок.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64188" y="444500"/>
            <a:ext cx="1063625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Как устроен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04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03 / КАК УСТРОЕН ЛОКАТОР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Собираем → чистим → оцениваем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" y="2032000"/>
            <a:ext cx="3344333" cy="19050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2184400"/>
            <a:ext cx="2963333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6B4A"/>
                </a:solidFill>
                <a:latin typeface="Inter"/>
              </a:rPr>
              <a:t>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2540000"/>
            <a:ext cx="2963333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 i="0">
                <a:solidFill>
                  <a:srgbClr val="2A2A28"/>
                </a:solidFill>
                <a:latin typeface="Manrope"/>
              </a:rPr>
              <a:t>Собираем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2870200"/>
            <a:ext cx="29633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2A2A28"/>
                </a:solidFill>
                <a:latin typeface="Inter"/>
              </a:rPr>
              <a:t>Все площадки в одном запросе: Циан, Авито, Яндекс, N1, ДомКлик.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7433" y="2794000"/>
            <a:ext cx="330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98F3E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833" y="2032000"/>
            <a:ext cx="3344333" cy="1905000"/>
          </a:xfrm>
          <a:prstGeom prst="roundRect">
            <a:avLst>
              <a:gd name="adj" fmla="val 7333"/>
            </a:avLst>
          </a:prstGeom>
          <a:solidFill>
            <a:srgbClr val="1A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4333" y="2184400"/>
            <a:ext cx="2963333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BD79A"/>
                </a:solidFill>
                <a:latin typeface="Inter"/>
              </a:rPr>
              <a:t>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4333" y="2540000"/>
            <a:ext cx="2963333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 i="0">
                <a:solidFill>
                  <a:srgbClr val="EFE9DB"/>
                </a:solidFill>
                <a:latin typeface="Manrope"/>
              </a:rPr>
              <a:t>Чистим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4333" y="2870200"/>
            <a:ext cx="29633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EFE9DB"/>
                </a:solidFill>
                <a:latin typeface="Inter"/>
              </a:rPr>
              <a:t>Склеиваем дубли по фото, отсеиваем фейки и посредников.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967" y="2794000"/>
            <a:ext cx="330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98F3E"/>
                </a:solidFill>
                <a:latin typeface="Inter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5367" y="2032000"/>
            <a:ext cx="3344333" cy="19050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5867" y="2184400"/>
            <a:ext cx="2963333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6B4A"/>
                </a:solidFill>
                <a:latin typeface="Inter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5867" y="2540000"/>
            <a:ext cx="2963333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 i="0">
                <a:solidFill>
                  <a:srgbClr val="2A2A28"/>
                </a:solidFill>
                <a:latin typeface="Manrope"/>
              </a:rPr>
              <a:t>Оцениваем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5867" y="2870200"/>
            <a:ext cx="29633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2A2A28"/>
                </a:solidFill>
                <a:latin typeface="Inter"/>
              </a:rPr>
              <a:t>Балл объекта и индекс локации 0–100 по пяти факторам.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" y="4254500"/>
            <a:ext cx="1047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C7768"/>
                </a:solidFill>
                <a:latin typeface="Inter"/>
              </a:rPr>
              <a:t>Дальше по порядку: где ищем, как отбираем и почему анализу можно верить.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0862" y="444500"/>
            <a:ext cx="930275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Источники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05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04 / ИСТОЧНИКИ ОБЪЯВЛЕНИЙ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Один запрос — пять баз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" y="2032000"/>
            <a:ext cx="355600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300" y="20320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2A28"/>
                </a:solidFill>
                <a:latin typeface="Manrope"/>
              </a:rPr>
              <a:t>Циан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8000" y="2032000"/>
            <a:ext cx="3556000" cy="889000"/>
          </a:xfrm>
          <a:prstGeom prst="roundRect">
            <a:avLst>
              <a:gd name="adj" fmla="val 15714"/>
            </a:avLst>
          </a:prstGeom>
          <a:solidFill>
            <a:srgbClr val="1A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8000" y="20320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FE9DB"/>
                </a:solidFill>
                <a:latin typeface="Manrope"/>
              </a:rPr>
              <a:t>Авито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700" y="2032000"/>
            <a:ext cx="355600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3700" y="20320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2A28"/>
                </a:solidFill>
                <a:latin typeface="Manrope"/>
              </a:rPr>
              <a:t>Яндекс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" y="3060700"/>
            <a:ext cx="3556000" cy="889000"/>
          </a:xfrm>
          <a:prstGeom prst="roundRect">
            <a:avLst>
              <a:gd name="adj" fmla="val 15714"/>
            </a:avLst>
          </a:prstGeom>
          <a:solidFill>
            <a:srgbClr val="1A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300" y="30607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FE9DB"/>
                </a:solidFill>
                <a:latin typeface="Manrope"/>
              </a:rPr>
              <a:t>N1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8000" y="3060700"/>
            <a:ext cx="355600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8000" y="30607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2A28"/>
                </a:solidFill>
                <a:latin typeface="Manrope"/>
              </a:rPr>
              <a:t>ДомКлик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3700" y="3060700"/>
            <a:ext cx="3556000" cy="889000"/>
          </a:xfrm>
          <a:prstGeom prst="roundRect">
            <a:avLst>
              <a:gd name="adj" fmla="val 15714"/>
            </a:avLst>
          </a:prstGeom>
          <a:noFill/>
          <a:ln w="12700">
            <a:solidFill>
              <a:srgbClr val="1F6B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 i="0">
                <a:solidFill>
                  <a:srgbClr val="1F6B4A"/>
                </a:solidFill>
                <a:latin typeface="Manrope"/>
              </a:rPr>
              <a:t>+ ваша база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C7768"/>
                </a:solidFill>
                <a:latin typeface="Inter"/>
              </a:rPr>
              <a:t>нужна ещё одна площадка — добавим под вас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300" y="4127500"/>
            <a:ext cx="1047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Шестая карточка важнее пяти первых: продукт подстраивается под ваш рынок, а не наоборот.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30850" y="444500"/>
            <a:ext cx="1130300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Ввод запроса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06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05 / ВВОД ЗАПРОСА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Опишите словами — критерии соберёт 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" y="1905000"/>
            <a:ext cx="5207000" cy="325437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1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1924050"/>
            <a:ext cx="5168900" cy="32162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59500" y="1905000"/>
            <a:ext cx="5410200" cy="571500"/>
          </a:xfrm>
          <a:prstGeom prst="roundRect">
            <a:avLst>
              <a:gd name="adj" fmla="val 22222"/>
            </a:avLst>
          </a:prstGeom>
          <a:solidFill>
            <a:srgbClr val="1A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EFE9DB"/>
                </a:solidFill>
                <a:latin typeface="Inter"/>
              </a:rPr>
              <a:t>«кофейня, первый этаж, Новосибирск, до 150 тыс/месяц»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9500" y="2527300"/>
            <a:ext cx="541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98F3E"/>
                </a:solidFill>
                <a:latin typeface="Inter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9500" y="2857500"/>
            <a:ext cx="1341120" cy="266700"/>
          </a:xfrm>
          <a:prstGeom prst="roundRect">
            <a:avLst>
              <a:gd name="adj" fmla="val 28571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Inter"/>
              </a:rPr>
              <a:t>тип: кофейня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6770" y="2857500"/>
            <a:ext cx="1341120" cy="266700"/>
          </a:xfrm>
          <a:prstGeom prst="roundRect">
            <a:avLst>
              <a:gd name="adj" fmla="val 28571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Inter"/>
              </a:rPr>
              <a:t>этаж: первый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4040" y="2857500"/>
            <a:ext cx="1859280" cy="266700"/>
          </a:xfrm>
          <a:prstGeom prst="roundRect">
            <a:avLst>
              <a:gd name="adj" fmla="val 28571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Inter"/>
              </a:rPr>
              <a:t>город: Новосибирск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67545" y="2857500"/>
            <a:ext cx="1772920" cy="266700"/>
          </a:xfrm>
          <a:prstGeom prst="roundRect">
            <a:avLst>
              <a:gd name="adj" fmla="val 28571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Inter"/>
              </a:rPr>
              <a:t>бюджет: ≤ 150 тыс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9500" y="3200400"/>
            <a:ext cx="1427480" cy="266700"/>
          </a:xfrm>
          <a:prstGeom prst="roundRect">
            <a:avLst>
              <a:gd name="adj" fmla="val 28571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Inter"/>
              </a:rPr>
              <a:t>ниша: общепит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9500" y="3644900"/>
            <a:ext cx="54102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C7768"/>
                </a:solidFill>
                <a:latin typeface="Inter"/>
              </a:rPr>
              <a:t>Можно приложить документ с ТЗ — разберём его сами и превратим в фильтры.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97538" y="444500"/>
            <a:ext cx="796925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Фильтры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07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06 / ФИЛЬТРЫ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Фильтры, которых нет на площадках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" y="1905000"/>
            <a:ext cx="3308350" cy="8382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700" y="2044700"/>
            <a:ext cx="3003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Inter"/>
              </a:rPr>
              <a:t>Без дублей по фото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700" y="2324100"/>
            <a:ext cx="30035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7C7768"/>
                </a:solidFill>
                <a:latin typeface="Inter"/>
              </a:rPr>
              <a:t>склеиваем объект с разных сайтов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44950" y="1905000"/>
            <a:ext cx="3308350" cy="838200"/>
          </a:xfrm>
          <a:prstGeom prst="roundRect">
            <a:avLst>
              <a:gd name="adj" fmla="val 15151"/>
            </a:avLst>
          </a:prstGeom>
          <a:solidFill>
            <a:srgbClr val="1A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350" y="2044700"/>
            <a:ext cx="3003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EFE9DB"/>
                </a:solidFill>
                <a:latin typeface="Inter"/>
              </a:rPr>
              <a:t>Скрыть фейки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7350" y="2324100"/>
            <a:ext cx="30035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9AA197"/>
                </a:solidFill>
                <a:latin typeface="Inter"/>
              </a:rPr>
              <a:t>объявления-приманки не показываем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" y="2857500"/>
            <a:ext cx="3308350" cy="8382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2997200"/>
            <a:ext cx="3003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Inter"/>
              </a:rPr>
              <a:t>ИИ-разбор описания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3276600"/>
            <a:ext cx="30035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7C7768"/>
                </a:solidFill>
                <a:latin typeface="Inter"/>
              </a:rPr>
              <a:t>вытаскиваем смысл из текста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44950" y="2857500"/>
            <a:ext cx="3308350" cy="8382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7350" y="2997200"/>
            <a:ext cx="3003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Inter"/>
              </a:rPr>
              <a:t>Пешая доступность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7350" y="3276600"/>
            <a:ext cx="30035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7C7768"/>
                </a:solidFill>
                <a:latin typeface="Inter"/>
              </a:rPr>
              <a:t>метро и остановки в шаговой зоне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300" y="3810000"/>
            <a:ext cx="3308350" cy="838200"/>
          </a:xfrm>
          <a:prstGeom prst="roundRect">
            <a:avLst>
              <a:gd name="adj" fmla="val 15151"/>
            </a:avLst>
          </a:prstGeom>
          <a:solidFill>
            <a:srgbClr val="1A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700" y="3949700"/>
            <a:ext cx="3003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EFE9DB"/>
                </a:solidFill>
                <a:latin typeface="Inter"/>
              </a:rPr>
              <a:t>Сначала из базы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700" y="4229100"/>
            <a:ext cx="30035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9AA197"/>
                </a:solidFill>
                <a:latin typeface="Inter"/>
              </a:rPr>
              <a:t>проверенные объекты в приоритете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44950" y="3810000"/>
            <a:ext cx="3308350" cy="8382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97350" y="3949700"/>
            <a:ext cx="3003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Inter"/>
              </a:rPr>
              <a:t>Только собственники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7350" y="4229100"/>
            <a:ext cx="30035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7C7768"/>
                </a:solidFill>
                <a:latin typeface="Inter"/>
              </a:rPr>
              <a:t>без комиссии посредника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20000" y="1905000"/>
            <a:ext cx="3949700" cy="2468562"/>
          </a:xfrm>
          <a:prstGeom prst="roundRect">
            <a:avLst>
              <a:gd name="adj" fmla="val 5144"/>
            </a:avLst>
          </a:prstGeom>
          <a:solidFill>
            <a:srgbClr val="FFFFFF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2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050" y="1924050"/>
            <a:ext cx="3911600" cy="24304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64175" y="444500"/>
            <a:ext cx="1263650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Индекс локации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08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07 / ИНДЕКС ЛОКАЦИИ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Балл 84 — и пять причин, почему именно 84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" y="1905000"/>
            <a:ext cx="2984500" cy="2159000"/>
          </a:xfrm>
          <a:prstGeom prst="roundRect">
            <a:avLst>
              <a:gd name="adj" fmla="val 6470"/>
            </a:avLst>
          </a:prstGeom>
          <a:solidFill>
            <a:srgbClr val="1A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300" y="2032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 i="0">
                <a:solidFill>
                  <a:srgbClr val="6BD79A"/>
                </a:solidFill>
                <a:latin typeface="Manrope"/>
              </a:rPr>
              <a:t>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00" y="3175000"/>
            <a:ext cx="298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197"/>
                </a:solidFill>
                <a:latin typeface="Inter"/>
              </a:rPr>
              <a:t>из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9050" y="34798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1C"/>
                </a:solidFill>
                <a:latin typeface="Inter"/>
              </a:rPr>
              <a:t>ПЕРСПЕКТИВНАЯ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7000" y="20701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Аудитория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0700" y="2114550"/>
            <a:ext cx="5511800" cy="10160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00700" y="2114550"/>
            <a:ext cx="5511800" cy="1016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0600" y="2057400"/>
            <a:ext cx="406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Manrope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7000" y="24384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Доход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700" y="2482850"/>
            <a:ext cx="5511800" cy="10160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00700" y="2482850"/>
            <a:ext cx="4629912" cy="1016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0600" y="2425700"/>
            <a:ext cx="406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Manrope"/>
              </a:rPr>
              <a:t>8.4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7000" y="28067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Трафик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00700" y="2851150"/>
            <a:ext cx="5511800" cy="10160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00700" y="2851150"/>
            <a:ext cx="5511800" cy="1016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0600" y="2794000"/>
            <a:ext cx="406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Manrope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7000" y="31750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0392B"/>
                </a:solidFill>
                <a:latin typeface="Inter"/>
              </a:rPr>
              <a:t>Конкуренция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0700" y="3219450"/>
            <a:ext cx="5511800" cy="10160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00700" y="3219450"/>
            <a:ext cx="2094484" cy="1016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0600" y="3162300"/>
            <a:ext cx="406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C0392B"/>
                </a:solidFill>
                <a:latin typeface="Manrope"/>
              </a:rPr>
              <a:t>3.8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7000" y="35433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Инфраструктура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00700" y="3587750"/>
            <a:ext cx="5511800" cy="10160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00700" y="3587750"/>
            <a:ext cx="5511800" cy="1016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0600" y="3530600"/>
            <a:ext cx="406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Manrope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300" y="4445000"/>
            <a:ext cx="1079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Оценка разложена на факторы: видно не только </a:t>
            </a:r>
            <a:r>
              <a:rPr sz="1600" b="1" i="0">
                <a:solidFill>
                  <a:srgbClr val="2A2A28"/>
                </a:solidFill>
                <a:latin typeface="Inter"/>
              </a:rPr>
              <a:t>сколько</a:t>
            </a:r>
            <a:r>
              <a:rPr sz="1600" b="0" i="0">
                <a:solidFill>
                  <a:srgbClr val="2A2A28"/>
                </a:solidFill>
                <a:latin typeface="Inter"/>
              </a:rPr>
              <a:t>, но и </a:t>
            </a:r>
            <a:r>
              <a:rPr sz="1600" b="1" i="0">
                <a:solidFill>
                  <a:srgbClr val="2A2A28"/>
                </a:solidFill>
                <a:latin typeface="Inter"/>
              </a:rPr>
              <a:t>за счёт чего</a:t>
            </a:r>
            <a:r>
              <a:rPr sz="1600" b="0" i="0">
                <a:solidFill>
                  <a:srgbClr val="2A2A28"/>
                </a:solidFill>
                <a:latin typeface="Inter"/>
              </a:rPr>
              <a:t>. Слабую конкуренцию — 3.8 — показываем честно, а не прячем за средним баллом.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EFE9DB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97500" y="444500"/>
            <a:ext cx="1397000" cy="241300"/>
          </a:xfrm>
          <a:prstGeom prst="roundRect">
            <a:avLst>
              <a:gd name="adj" fmla="val 50000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1C"/>
                </a:solidFill>
                <a:latin typeface="Inter"/>
              </a:rPr>
              <a:t>Источники данных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20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EFE9DB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FE9DB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DD49D"/>
                </a:solidFill>
                <a:latin typeface="Inter"/>
              </a:rPr>
              <a:t>09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08 / ИСТОЧНИКИ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EFE9DB"/>
                </a:solidFill>
                <a:latin typeface="Manrope"/>
              </a:rPr>
              <a:t>Считаем по фактам, а не по ощущениям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" y="1968500"/>
            <a:ext cx="5403850" cy="984250"/>
          </a:xfrm>
          <a:prstGeom prst="roundRect">
            <a:avLst>
              <a:gd name="adj" fmla="val 14193"/>
            </a:avLst>
          </a:prstGeom>
          <a:solidFill>
            <a:srgbClr val="202B23"/>
          </a:solidFill>
          <a:ln w="6350">
            <a:solidFill>
              <a:srgbClr val="2C37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400" y="2095500"/>
            <a:ext cx="50736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BD79A"/>
                </a:solidFill>
                <a:latin typeface="Manrope"/>
              </a:rPr>
              <a:t>🏢  </a:t>
            </a:r>
            <a:r>
              <a:rPr sz="2000" b="1" i="0">
                <a:solidFill>
                  <a:srgbClr val="EFE9DB"/>
                </a:solidFill>
                <a:latin typeface="Manrope"/>
              </a:rPr>
              <a:t>Организации рядом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" y="2400300"/>
            <a:ext cx="507365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EFE9DB"/>
                </a:solidFill>
                <a:latin typeface="Inter"/>
              </a:rPr>
              <a:t>Сколько и каких заведений в радиусе, перенасыщена ли ниша. Источник — </a:t>
            </a:r>
            <a:r>
              <a:rPr sz="1520" b="1" i="0">
                <a:solidFill>
                  <a:srgbClr val="EFE9DB"/>
                </a:solidFill>
                <a:latin typeface="Inter"/>
              </a:rPr>
              <a:t>2ГИС / Яндекс.Карты</a:t>
            </a:r>
            <a:r>
              <a:rPr sz="1520" b="0" i="0">
                <a:solidFill>
                  <a:srgbClr val="EFE9DB"/>
                </a:solidFill>
                <a:latin typeface="Inter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5850" y="1968500"/>
            <a:ext cx="5403850" cy="984250"/>
          </a:xfrm>
          <a:prstGeom prst="roundRect">
            <a:avLst>
              <a:gd name="adj" fmla="val 14193"/>
            </a:avLst>
          </a:prstGeom>
          <a:solidFill>
            <a:srgbClr val="202B23"/>
          </a:solidFill>
          <a:ln w="6350">
            <a:solidFill>
              <a:srgbClr val="2C37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0950" y="2095500"/>
            <a:ext cx="50736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BD79A"/>
                </a:solidFill>
                <a:latin typeface="Manrope"/>
              </a:rPr>
              <a:t>💰  </a:t>
            </a:r>
            <a:r>
              <a:rPr sz="2000" b="1" i="0">
                <a:solidFill>
                  <a:srgbClr val="EFE9DB"/>
                </a:solidFill>
                <a:latin typeface="Manrope"/>
              </a:rPr>
              <a:t>Доход населения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950" y="2400300"/>
            <a:ext cx="507365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EFE9DB"/>
                </a:solidFill>
                <a:latin typeface="Inter"/>
              </a:rPr>
              <a:t>Среднемесячный доход по региону. Источник — </a:t>
            </a:r>
            <a:r>
              <a:rPr sz="1520" b="1" i="0">
                <a:solidFill>
                  <a:srgbClr val="EFE9DB"/>
                </a:solidFill>
                <a:latin typeface="Inter"/>
              </a:rPr>
              <a:t>Росстат</a:t>
            </a:r>
            <a:r>
              <a:rPr sz="1520" b="0" i="0">
                <a:solidFill>
                  <a:srgbClr val="EFE9DB"/>
                </a:solidFill>
                <a:latin typeface="Inter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" y="3092450"/>
            <a:ext cx="5403850" cy="984250"/>
          </a:xfrm>
          <a:prstGeom prst="roundRect">
            <a:avLst>
              <a:gd name="adj" fmla="val 14193"/>
            </a:avLst>
          </a:prstGeom>
          <a:solidFill>
            <a:srgbClr val="202B23"/>
          </a:solidFill>
          <a:ln w="6350">
            <a:solidFill>
              <a:srgbClr val="2C37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400" y="3219450"/>
            <a:ext cx="50736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BD79A"/>
                </a:solidFill>
                <a:latin typeface="Manrope"/>
              </a:rPr>
              <a:t>👥  </a:t>
            </a:r>
            <a:r>
              <a:rPr sz="2000" b="1" i="0">
                <a:solidFill>
                  <a:srgbClr val="EFE9DB"/>
                </a:solidFill>
                <a:latin typeface="Manrope"/>
              </a:rPr>
              <a:t>Население и трафик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400" y="3524250"/>
            <a:ext cx="507365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EFE9DB"/>
                </a:solidFill>
                <a:latin typeface="Inter"/>
              </a:rPr>
              <a:t>Плотность и проходимость точки. Источники — </a:t>
            </a:r>
            <a:r>
              <a:rPr sz="1520" b="1" i="0">
                <a:solidFill>
                  <a:srgbClr val="EFE9DB"/>
                </a:solidFill>
                <a:latin typeface="Inter"/>
              </a:rPr>
              <a:t>Росстат, 2ГИС</a:t>
            </a:r>
            <a:r>
              <a:rPr sz="1520" b="0" i="0">
                <a:solidFill>
                  <a:srgbClr val="EFE9DB"/>
                </a:solidFill>
                <a:latin typeface="Inter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5850" y="3092450"/>
            <a:ext cx="5403850" cy="984250"/>
          </a:xfrm>
          <a:prstGeom prst="roundRect">
            <a:avLst>
              <a:gd name="adj" fmla="val 14193"/>
            </a:avLst>
          </a:prstGeom>
          <a:solidFill>
            <a:srgbClr val="202B23"/>
          </a:solidFill>
          <a:ln w="6350">
            <a:solidFill>
              <a:srgbClr val="2C37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0950" y="3219450"/>
            <a:ext cx="50736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BD79A"/>
                </a:solidFill>
                <a:latin typeface="Manrope"/>
              </a:rPr>
              <a:t>🚇  </a:t>
            </a:r>
            <a:r>
              <a:rPr sz="2000" b="1" i="0">
                <a:solidFill>
                  <a:srgbClr val="EFE9DB"/>
                </a:solidFill>
                <a:latin typeface="Manrope"/>
              </a:rPr>
              <a:t>Инфраструктура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0950" y="3524250"/>
            <a:ext cx="507365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EFE9DB"/>
                </a:solidFill>
                <a:latin typeface="Inter"/>
              </a:rPr>
              <a:t>Метро, остановки, школы, садики рядом. Источники — </a:t>
            </a:r>
            <a:r>
              <a:rPr sz="1520" b="1" i="0">
                <a:solidFill>
                  <a:srgbClr val="EFE9DB"/>
                </a:solidFill>
                <a:latin typeface="Inter"/>
              </a:rPr>
              <a:t>2ГИС / Яндекс</a:t>
            </a:r>
            <a:r>
              <a:rPr sz="1520" b="0" i="0">
                <a:solidFill>
                  <a:srgbClr val="EFE9DB"/>
                </a:solidFill>
                <a:latin typeface="Inter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00" y="4191000"/>
            <a:ext cx="1079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8A8F84"/>
                </a:solidFill>
                <a:latin typeface="Inter"/>
              </a:rPr>
              <a:t>Названия источников уточните перед защитой — на слайде для клиента точность даёт вес аргументу.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EFE9DB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97525" y="444500"/>
            <a:ext cx="996950" cy="241300"/>
          </a:xfrm>
          <a:prstGeom prst="roundRect">
            <a:avLst>
              <a:gd name="adj" fmla="val 50000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1C"/>
                </a:solidFill>
                <a:latin typeface="Inter"/>
              </a:rPr>
              <a:t>Вердикт 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20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EFE9DB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FE9DB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DD49D"/>
                </a:solidFill>
                <a:latin typeface="Inter"/>
              </a:rPr>
              <a:t>10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09 / ВЕРДИКТ 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EFE9DB"/>
                </a:solidFill>
                <a:latin typeface="Manrope"/>
              </a:rPr>
              <a:t>ИИ, который уже знает про локации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" y="1505458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EFE9DB"/>
                </a:solidFill>
                <a:latin typeface="Manrope"/>
              </a:rPr>
              <a:t>а не тот, у которого вы спрашиваете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00" y="20955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9AA197"/>
                </a:solidFill>
                <a:latin typeface="Inter"/>
              </a:rPr>
              <a:t>Что модель знает до вопроса клиента: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00" y="2413000"/>
            <a:ext cx="1772920" cy="266700"/>
          </a:xfrm>
          <a:prstGeom prst="roundRect">
            <a:avLst>
              <a:gd name="adj" fmla="val 28571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17231C"/>
                </a:solidFill>
                <a:latin typeface="Inter"/>
              </a:rPr>
              <a:t>данные по локации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" y="2768600"/>
            <a:ext cx="2895600" cy="266700"/>
          </a:xfrm>
          <a:prstGeom prst="roundRect">
            <a:avLst>
              <a:gd name="adj" fmla="val 28571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17231C"/>
                </a:solidFill>
                <a:latin typeface="Inter"/>
              </a:rPr>
              <a:t>конкуренты и насыщенность ниши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" y="3124200"/>
            <a:ext cx="1600200" cy="266700"/>
          </a:xfrm>
          <a:prstGeom prst="roundRect">
            <a:avLst>
              <a:gd name="adj" fmla="val 28571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17231C"/>
                </a:solidFill>
                <a:latin typeface="Inter"/>
              </a:rPr>
              <a:t>доход населения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00" y="3479800"/>
            <a:ext cx="2291080" cy="266700"/>
          </a:xfrm>
          <a:prstGeom prst="roundRect">
            <a:avLst>
              <a:gd name="adj" fmla="val 28571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17231C"/>
                </a:solidFill>
                <a:latin typeface="Inter"/>
              </a:rPr>
              <a:t>история и динамика цены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" y="3835400"/>
            <a:ext cx="2636520" cy="266700"/>
          </a:xfrm>
          <a:prstGeom prst="roundRect">
            <a:avLst>
              <a:gd name="adj" fmla="val 28571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17231C"/>
                </a:solidFill>
                <a:latin typeface="Inter"/>
              </a:rPr>
              <a:t>варианты ниши под помещение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159000"/>
            <a:ext cx="5854700" cy="1143000"/>
          </a:xfrm>
          <a:prstGeom prst="roundRect">
            <a:avLst>
              <a:gd name="adj" fmla="val 12222"/>
            </a:avLst>
          </a:prstGeom>
          <a:solidFill>
            <a:srgbClr val="1A241C"/>
          </a:solidFill>
          <a:ln w="381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69000" y="2286000"/>
            <a:ext cx="5397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0392B"/>
                </a:solidFill>
                <a:latin typeface="Manrope"/>
              </a:rPr>
              <a:t>✕ Отклонено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9000" y="2667000"/>
            <a:ext cx="539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FE9DB"/>
                </a:solidFill>
                <a:latin typeface="Inter"/>
              </a:rPr>
              <a:t>проходимость </a:t>
            </a:r>
            <a:r>
              <a:rPr sz="1600" b="1" i="0">
                <a:solidFill>
                  <a:srgbClr val="EFE9DB"/>
                </a:solidFill>
                <a:latin typeface="Inter"/>
              </a:rPr>
              <a:t>3/100</a:t>
            </a:r>
            <a:r>
              <a:rPr sz="1600" b="0" i="0">
                <a:solidFill>
                  <a:srgbClr val="EFE9DB"/>
                </a:solidFill>
                <a:latin typeface="Inter"/>
              </a:rPr>
              <a:t> · площадь </a:t>
            </a:r>
            <a:r>
              <a:rPr sz="1600" b="1" i="0">
                <a:solidFill>
                  <a:srgbClr val="EFE9DB"/>
                </a:solidFill>
                <a:latin typeface="Inter"/>
              </a:rPr>
              <a:t>82 ≫ 50 м²</a:t>
            </a:r>
            <a:r>
              <a:rPr sz="1600" b="0" i="0">
                <a:solidFill>
                  <a:srgbClr val="EFE9DB"/>
                </a:solidFill>
                <a:latin typeface="Inter"/>
              </a:rPr>
              <a:t> · прогноз выручки ~221 тыс ₽/мес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492500"/>
            <a:ext cx="58547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FE9DB"/>
                </a:solidFill>
                <a:latin typeface="Inter"/>
              </a:rPr>
              <a:t>Ключевое: система </a:t>
            </a:r>
            <a:r>
              <a:rPr sz="1600" b="1" i="0">
                <a:solidFill>
                  <a:srgbClr val="6BD79A"/>
                </a:solidFill>
                <a:latin typeface="Inter"/>
              </a:rPr>
              <a:t>объясняет отказ</a:t>
            </a:r>
            <a:r>
              <a:rPr sz="1600" b="0" i="0">
                <a:solidFill>
                  <a:srgbClr val="EFE9DB"/>
                </a:solidFill>
                <a:latin typeface="Inter"/>
              </a:rPr>
              <a:t>. Это и есть качество анализа — не «нравится / не нравится», а конкретные цифры.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0862" y="444500"/>
            <a:ext cx="930275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Окружение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11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10 / ОКРУЖЕНИЕ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603 организации в радиусе 800 м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" y="1505458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и что это значит для вас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" y="2032000"/>
            <a:ext cx="5080000" cy="3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_object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2051050"/>
            <a:ext cx="5041900" cy="31369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096000" y="2032000"/>
            <a:ext cx="736600" cy="266700"/>
          </a:xfrm>
          <a:prstGeom prst="roundRect">
            <a:avLst>
              <a:gd name="adj" fmla="val 28571"/>
            </a:avLst>
          </a:prstGeom>
          <a:solidFill>
            <a:srgbClr val="ECE7DC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2A2A28"/>
                </a:solidFill>
                <a:latin typeface="Inter"/>
              </a:rPr>
              <a:t>500 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8800" y="2032000"/>
            <a:ext cx="736600" cy="266700"/>
          </a:xfrm>
          <a:prstGeom prst="roundRect">
            <a:avLst>
              <a:gd name="adj" fmla="val 28571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Inter"/>
              </a:rPr>
              <a:t>800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1600" y="2032000"/>
            <a:ext cx="822960" cy="266700"/>
          </a:xfrm>
          <a:prstGeom prst="roundRect">
            <a:avLst>
              <a:gd name="adj" fmla="val 28571"/>
            </a:avLst>
          </a:prstGeom>
          <a:solidFill>
            <a:srgbClr val="ECE7DC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2A2A28"/>
                </a:solidFill>
                <a:latin typeface="Inter"/>
              </a:rPr>
              <a:t>1.2 км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20760" y="2032000"/>
            <a:ext cx="650240" cy="266700"/>
          </a:xfrm>
          <a:prstGeom prst="roundRect">
            <a:avLst>
              <a:gd name="adj" fmla="val 28571"/>
            </a:avLst>
          </a:prstGeom>
          <a:solidFill>
            <a:srgbClr val="ECE7DC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2A2A28"/>
                </a:solidFill>
                <a:latin typeface="Inter"/>
              </a:rPr>
              <a:t>2 км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2463800"/>
            <a:ext cx="54737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2A2A28"/>
                </a:solidFill>
                <a:latin typeface="Inter"/>
              </a:rPr>
              <a:t>Радиус переключается, ниша выбирается — видно рейтинг и число отзывов каждого соседа: Дентиформ, Айс, АЙС ветклиника…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0" y="3479800"/>
            <a:ext cx="5473700" cy="1206500"/>
          </a:xfrm>
          <a:prstGeom prst="roundRect">
            <a:avLst>
              <a:gd name="adj" fmla="val 11578"/>
            </a:avLst>
          </a:prstGeom>
          <a:solidFill>
            <a:srgbClr val="FBF0EE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3800" y="3606800"/>
            <a:ext cx="51181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C0392B"/>
                </a:solidFill>
                <a:latin typeface="Manrope"/>
              </a:rPr>
              <a:t>Насыщенное окружение — риск, а не преимущество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3800" y="4191000"/>
            <a:ext cx="5118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2A2A28"/>
                </a:solidFill>
                <a:latin typeface="Inter"/>
              </a:rPr>
              <a:t>И мы показываем это </a:t>
            </a:r>
            <a:r>
              <a:rPr sz="1520" b="1" i="0">
                <a:solidFill>
                  <a:srgbClr val="2A2A28"/>
                </a:solidFill>
                <a:latin typeface="Inter"/>
              </a:rPr>
              <a:t>до сделки</a:t>
            </a:r>
            <a:r>
              <a:rPr sz="1520" b="0" i="0">
                <a:solidFill>
                  <a:srgbClr val="2A2A28"/>
                </a:solidFill>
                <a:latin typeface="Inter"/>
              </a:rPr>
              <a:t>, а не после запуска точки.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30825" y="444500"/>
            <a:ext cx="1530350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Цена и собственник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12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11 / ЦЕНА И СОБСТВЕННИК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Видим, где тот же объект дешевле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" y="1905000"/>
            <a:ext cx="520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7C7768"/>
                </a:solidFill>
                <a:latin typeface="Inter"/>
              </a:rPr>
              <a:t>Один объект на трёх площадках: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" y="2159000"/>
            <a:ext cx="1676400" cy="7620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300" y="2247900"/>
            <a:ext cx="1676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7C7768"/>
                </a:solidFill>
                <a:latin typeface="Inter"/>
              </a:rPr>
              <a:t>Циан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" y="2438400"/>
            <a:ext cx="1676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 i="0">
                <a:solidFill>
                  <a:srgbClr val="2A2A28"/>
                </a:solidFill>
                <a:latin typeface="Manrope"/>
              </a:rPr>
              <a:t>45 тыс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87600" y="2159000"/>
            <a:ext cx="1676400" cy="7620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7600" y="2247900"/>
            <a:ext cx="1676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7C7768"/>
                </a:solidFill>
                <a:latin typeface="Inter"/>
              </a:rPr>
              <a:t>Яндекс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7600" y="2438400"/>
            <a:ext cx="1676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 i="0">
                <a:solidFill>
                  <a:srgbClr val="2A2A28"/>
                </a:solidFill>
                <a:latin typeface="Manrope"/>
              </a:rPr>
              <a:t>45 тыс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2900" y="2159000"/>
            <a:ext cx="1676400" cy="762000"/>
          </a:xfrm>
          <a:prstGeom prst="roundRect">
            <a:avLst>
              <a:gd name="adj" fmla="val 16666"/>
            </a:avLst>
          </a:prstGeom>
          <a:solidFill>
            <a:srgbClr val="E6F2EA"/>
          </a:solidFill>
          <a:ln w="9525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2900" y="2247900"/>
            <a:ext cx="1676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1F6B4A"/>
                </a:solidFill>
                <a:latin typeface="Inter"/>
              </a:rPr>
              <a:t>N1 ·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2900" y="2438400"/>
            <a:ext cx="1676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 i="0">
                <a:solidFill>
                  <a:srgbClr val="1F6B4A"/>
                </a:solidFill>
                <a:latin typeface="Manrope"/>
              </a:rPr>
              <a:t>36 тыс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300" y="3079750"/>
            <a:ext cx="5207000" cy="762000"/>
          </a:xfrm>
          <a:prstGeom prst="roundRect">
            <a:avLst>
              <a:gd name="adj" fmla="val 16666"/>
            </a:avLst>
          </a:prstGeom>
          <a:solidFill>
            <a:srgbClr val="EDD49D"/>
          </a:solidFill>
          <a:ln w="9525">
            <a:solidFill>
              <a:srgbClr val="E3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rIns="1651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5F4A1C"/>
                </a:solidFill>
                <a:latin typeface="Inter"/>
              </a:rPr>
              <a:t>💰 Дешевле всего в аренду: </a:t>
            </a:r>
            <a:r>
              <a:rPr sz="1520" b="1" i="0">
                <a:solidFill>
                  <a:srgbClr val="5F4A1C"/>
                </a:solidFill>
                <a:latin typeface="Inter"/>
              </a:rPr>
              <a:t>36 тыс ₽</a:t>
            </a:r>
            <a:r>
              <a:rPr sz="1520" b="0" i="0">
                <a:solidFill>
                  <a:srgbClr val="5F4A1C"/>
                </a:solidFill>
                <a:latin typeface="Inter"/>
              </a:rPr>
              <a:t> — возможно, напрямую от собственника, без комиссии агентства.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9500" y="1905000"/>
            <a:ext cx="520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7C7768"/>
                </a:solidFill>
                <a:latin typeface="Inter"/>
              </a:rPr>
              <a:t>История места: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9500" y="2159000"/>
            <a:ext cx="5410200" cy="1524000"/>
          </a:xfrm>
          <a:prstGeom prst="roundRect">
            <a:avLst>
              <a:gd name="adj" fmla="val 9166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1900" y="2286000"/>
            <a:ext cx="5105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На рынке</a:t>
            </a:r>
            <a:r>
              <a:rPr sz="1600" b="1" i="0">
                <a:solidFill>
                  <a:srgbClr val="2A2A28"/>
                </a:solidFill>
                <a:latin typeface="Inter"/>
              </a:rPr>
              <a:t>        3 дня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11900" y="2578100"/>
            <a:ext cx="5105400" cy="6350"/>
          </a:xfrm>
          <a:prstGeom prst="roundRect">
            <a:avLst>
              <a:gd name="adj" fmla="val 0"/>
            </a:avLst>
          </a:prstGeom>
          <a:solidFill>
            <a:srgbClr val="E2D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1900" y="2692400"/>
            <a:ext cx="5105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● стабильно · единичное предложение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1900" y="2984500"/>
            <a:ext cx="5105400" cy="6350"/>
          </a:xfrm>
          <a:prstGeom prst="roundRect">
            <a:avLst>
              <a:gd name="adj" fmla="val 0"/>
            </a:avLst>
          </a:prstGeom>
          <a:solidFill>
            <a:srgbClr val="E2D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1900" y="3098800"/>
            <a:ext cx="5105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аренда 2026-08-18 · </a:t>
            </a:r>
            <a:r>
              <a:rPr sz="1600" b="1" i="0">
                <a:solidFill>
                  <a:srgbClr val="1F6B4A"/>
                </a:solidFill>
                <a:latin typeface="Inter"/>
              </a:rPr>
              <a:t>активно</a:t>
            </a:r>
            <a:r>
              <a:rPr sz="1600" b="1" i="0">
                <a:solidFill>
                  <a:srgbClr val="1F6B4A"/>
                </a:solidFill>
                <a:latin typeface="Inter"/>
              </a:rPr>
              <a:t>        123 тыс 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9500" y="3810000"/>
            <a:ext cx="54102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C7768"/>
                </a:solidFill>
                <a:latin typeface="Inter"/>
              </a:rPr>
              <a:t>Видно, сдавалось ли раньше, как долго висит и стабильна ли цена — или мечется.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0862" y="444500"/>
            <a:ext cx="930275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Для сетей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13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12 / ДЛЯ СЕТЕЙ И ФРАНШИЗ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Не открываем точку рядом с вашей же точкой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" y="2032000"/>
            <a:ext cx="5207000" cy="2730500"/>
          </a:xfrm>
          <a:prstGeom prst="roundRect">
            <a:avLst>
              <a:gd name="adj" fmla="val 4651"/>
            </a:avLst>
          </a:prstGeom>
          <a:solidFill>
            <a:srgbClr val="FCFAF4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33550" y="2667000"/>
            <a:ext cx="1460500" cy="1460500"/>
          </a:xfrm>
          <a:prstGeom prst="ellipse">
            <a:avLst/>
          </a:prstGeom>
          <a:solidFill>
            <a:srgbClr val="ECF3EF"/>
          </a:solidFill>
          <a:ln w="9525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3300" y="2476500"/>
            <a:ext cx="1460500" cy="1460500"/>
          </a:xfrm>
          <a:prstGeom prst="ellipse">
            <a:avLst/>
          </a:prstGeom>
          <a:solidFill>
            <a:srgbClr val="ECF3EF"/>
          </a:solidFill>
          <a:ln w="9525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19350" y="3333750"/>
            <a:ext cx="101600" cy="10160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29100" y="3143250"/>
            <a:ext cx="101600" cy="10160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1300" y="32131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Inter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9800" y="37465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Inter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3200" y="35242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Inter"/>
              </a:rPr>
              <a:t>✕</a:t>
            </a:r>
          </a:p>
        </p:txBody>
      </p:sp>
      <p:sp>
        <p:nvSpPr>
          <p:cNvPr id="21" name="Oval 20"/>
          <p:cNvSpPr/>
          <p:nvPr/>
        </p:nvSpPr>
        <p:spPr>
          <a:xfrm>
            <a:off x="5232400" y="4127500"/>
            <a:ext cx="114300" cy="114300"/>
          </a:xfrm>
          <a:prstGeom prst="ellipse">
            <a:avLst/>
          </a:prstGeom>
          <a:solidFill>
            <a:srgbClr val="FCFAF4"/>
          </a:solidFill>
          <a:ln w="9525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7000" y="4095750"/>
            <a:ext cx="1651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F6B4A"/>
                </a:solidFill>
                <a:latin typeface="Inter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445000"/>
            <a:ext cx="495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7C7768"/>
                </a:solidFill>
                <a:latin typeface="Inter"/>
              </a:rPr>
              <a:t>△ ваши точки · радиус 1 км · ✕ отсеяно · ○ подходит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2159000"/>
            <a:ext cx="54737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2A2A28"/>
                </a:solidFill>
                <a:latin typeface="Inter"/>
              </a:rPr>
              <a:t>Загрузите адреса своей сети — объекты ближе </a:t>
            </a:r>
            <a:r>
              <a:rPr sz="1760" b="1" i="0">
                <a:solidFill>
                  <a:srgbClr val="2A2A28"/>
                </a:solidFill>
                <a:latin typeface="Inter"/>
              </a:rPr>
              <a:t>1 км</a:t>
            </a:r>
            <a:r>
              <a:rPr sz="1760" b="0" i="0">
                <a:solidFill>
                  <a:srgbClr val="2A2A28"/>
                </a:solidFill>
                <a:latin typeface="Inter"/>
              </a:rPr>
              <a:t> к вашим точкам отсеются автоматически. На карте точки видны маяками.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0" y="3175000"/>
            <a:ext cx="2722880" cy="266700"/>
          </a:xfrm>
          <a:prstGeom prst="roundRect">
            <a:avLst>
              <a:gd name="adj" fmla="val 28571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Inter"/>
              </a:rPr>
              <a:t>экспансия без каннибализации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0" y="3619500"/>
            <a:ext cx="5473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C7768"/>
                </a:solidFill>
                <a:latin typeface="Inter"/>
              </a:rPr>
              <a:t>Настраивается в кабинете, блок «Моя сеть».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4212" y="444500"/>
            <a:ext cx="663575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Жильё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14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13 / ЖИЛАЯ НЕДВИЖИМОСТЬ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Один объект — разный балл под тип клиента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" y="2032000"/>
            <a:ext cx="298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2A2A28"/>
                </a:solidFill>
                <a:latin typeface="Inter"/>
              </a:rPr>
              <a:t>Критерии сегмента: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" y="2298700"/>
            <a:ext cx="1772920" cy="266700"/>
          </a:xfrm>
          <a:prstGeom prst="roundRect">
            <a:avLst>
              <a:gd name="adj" fmla="val 28571"/>
            </a:avLst>
          </a:prstGeom>
          <a:solidFill>
            <a:srgbClr val="ECE7DC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2A2A28"/>
                </a:solidFill>
                <a:latin typeface="Inter"/>
              </a:rPr>
              <a:t>метро и остановки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00" y="2641600"/>
            <a:ext cx="2032000" cy="266700"/>
          </a:xfrm>
          <a:prstGeom prst="roundRect">
            <a:avLst>
              <a:gd name="adj" fmla="val 28571"/>
            </a:avLst>
          </a:prstGeom>
          <a:solidFill>
            <a:srgbClr val="ECE7DC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2A2A28"/>
                </a:solidFill>
                <a:latin typeface="Inter"/>
              </a:rPr>
              <a:t>садики и школы рядом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" y="2984500"/>
            <a:ext cx="2636520" cy="266700"/>
          </a:xfrm>
          <a:prstGeom prst="roundRect">
            <a:avLst>
              <a:gd name="adj" fmla="val 28571"/>
            </a:avLst>
          </a:prstGeom>
          <a:solidFill>
            <a:srgbClr val="ECE7DC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2A2A28"/>
                </a:solidFill>
                <a:latin typeface="Inter"/>
              </a:rPr>
              <a:t>цена за м² к медиане района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00" y="3556000"/>
            <a:ext cx="298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C7768"/>
                </a:solidFill>
                <a:latin typeface="Inter"/>
              </a:rPr>
              <a:t>Медиана района: </a:t>
            </a:r>
            <a:r>
              <a:rPr sz="1600" b="1" i="0">
                <a:solidFill>
                  <a:srgbClr val="2A2A28"/>
                </a:solidFill>
                <a:latin typeface="Inter"/>
              </a:rPr>
              <a:t>149 322 ₽/м²</a:t>
            </a:r>
            <a:r>
              <a:rPr sz="1600" b="0" i="0">
                <a:solidFill>
                  <a:srgbClr val="7C7768"/>
                </a:solidFill>
                <a:latin typeface="Inter"/>
              </a:rPr>
              <a:t> · тренд +0.8%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4000" y="21336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Релокант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27700" y="2178050"/>
            <a:ext cx="5384800" cy="10160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27700" y="2178050"/>
            <a:ext cx="5115560" cy="1016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0600" y="2120900"/>
            <a:ext cx="406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Manrope"/>
              </a:rPr>
              <a:t>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4000" y="25019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Инвестор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27700" y="2546350"/>
            <a:ext cx="5384800" cy="10160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7700" y="2546350"/>
            <a:ext cx="4469384" cy="1016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0600" y="2489200"/>
            <a:ext cx="406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Manrope"/>
              </a:rPr>
              <a:t>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000" y="28702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Студент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27700" y="2914650"/>
            <a:ext cx="5384800" cy="10160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27700" y="2914650"/>
            <a:ext cx="4146296" cy="1016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0600" y="2857500"/>
            <a:ext cx="406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Manrope"/>
              </a:rPr>
              <a:t>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4000" y="32385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Пара / одиночка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27700" y="3282950"/>
            <a:ext cx="5384800" cy="10160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27700" y="3282950"/>
            <a:ext cx="3230880" cy="1016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0600" y="3225800"/>
            <a:ext cx="406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Manrope"/>
              </a:rPr>
              <a:t>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4000" y="36068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0392B"/>
                </a:solidFill>
                <a:latin typeface="Inter"/>
              </a:rPr>
              <a:t>Семья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27700" y="3651250"/>
            <a:ext cx="5384800" cy="10160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727700" y="3651250"/>
            <a:ext cx="107696" cy="1016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0600" y="3594100"/>
            <a:ext cx="406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C0392B"/>
                </a:solidFill>
                <a:latin typeface="Manrope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300" y="4445000"/>
            <a:ext cx="1079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Агент сразу знает, </a:t>
            </a:r>
            <a:r>
              <a:rPr sz="1600" b="1" i="0">
                <a:solidFill>
                  <a:srgbClr val="2A2A28"/>
                </a:solidFill>
                <a:latin typeface="Inter"/>
              </a:rPr>
              <a:t>кому показывать</a:t>
            </a:r>
            <a:r>
              <a:rPr sz="1600" b="0" i="0">
                <a:solidFill>
                  <a:srgbClr val="2A2A28"/>
                </a:solidFill>
                <a:latin typeface="Inter"/>
              </a:rPr>
              <a:t> объект: студии — релоканту и инвестору, а не семье.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97525" y="444500"/>
            <a:ext cx="996950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Мониторинг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15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14 / МОНИТОРИНГ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Сделку не пропустите: следит система, а не вы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" y="2032000"/>
            <a:ext cx="3344333" cy="952500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300" y="2133600"/>
            <a:ext cx="3344333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B98F3E"/>
                </a:solidFill>
                <a:latin typeface="Manrop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00" y="2603500"/>
            <a:ext cx="3344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Inter"/>
              </a:rPr>
              <a:t>Сохранили запрос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7433" y="2286000"/>
            <a:ext cx="3556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98F3E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3833" y="2032000"/>
            <a:ext cx="3344333" cy="952500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3833" y="2133600"/>
            <a:ext cx="3344333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B98F3E"/>
                </a:solidFill>
                <a:latin typeface="Manrop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3833" y="2603500"/>
            <a:ext cx="3344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Inter"/>
              </a:rPr>
              <a:t>Площадки меняются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967" y="2286000"/>
            <a:ext cx="3556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98F3E"/>
                </a:solidFill>
                <a:latin typeface="Inte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5367" y="2032000"/>
            <a:ext cx="3344333" cy="952500"/>
          </a:xfrm>
          <a:prstGeom prst="roundRect">
            <a:avLst>
              <a:gd name="adj" fmla="val 14666"/>
            </a:avLst>
          </a:prstGeom>
          <a:solidFill>
            <a:srgbClr val="1A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5367" y="2133600"/>
            <a:ext cx="3344333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6BD79A"/>
                </a:solidFill>
                <a:latin typeface="Manrop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5367" y="2603500"/>
            <a:ext cx="3344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EFE9DB"/>
                </a:solidFill>
                <a:latin typeface="Inter"/>
              </a:rPr>
              <a:t>Приходит уведомление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300" y="3302000"/>
            <a:ext cx="5346700" cy="698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" y="3302000"/>
            <a:ext cx="49657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1F6B4A"/>
                </a:solidFill>
                <a:latin typeface="Inter"/>
              </a:rPr>
              <a:t>🔔  </a:t>
            </a:r>
            <a:r>
              <a:rPr sz="1760" b="1" i="0">
                <a:solidFill>
                  <a:srgbClr val="1F6B4A"/>
                </a:solidFill>
                <a:latin typeface="Inter"/>
              </a:rPr>
              <a:t>Цена снизилась на 12%</a:t>
            </a:r>
            <a:r>
              <a:rPr sz="1760" b="0" i="0">
                <a:solidFill>
                  <a:srgbClr val="2A2A28"/>
                </a:solidFill>
                <a:latin typeface="Inter"/>
              </a:rPr>
              <a:t> по запросу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8700" y="3302000"/>
            <a:ext cx="5346700" cy="698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6500" y="3302000"/>
            <a:ext cx="49657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1F6B4A"/>
                </a:solidFill>
                <a:latin typeface="Inter"/>
              </a:rPr>
              <a:t>🔔  </a:t>
            </a:r>
            <a:r>
              <a:rPr sz="1760" b="1" i="0">
                <a:solidFill>
                  <a:srgbClr val="1F6B4A"/>
                </a:solidFill>
                <a:latin typeface="Inter"/>
              </a:rPr>
              <a:t>Новый объект</a:t>
            </a:r>
            <a:r>
              <a:rPr sz="1760" b="0" i="0">
                <a:solidFill>
                  <a:srgbClr val="2A2A28"/>
                </a:solidFill>
                <a:latin typeface="Inter"/>
              </a:rPr>
              <a:t> по вашему запросу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00" y="4318000"/>
            <a:ext cx="1079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C7768"/>
                </a:solidFill>
                <a:latin typeface="Inter"/>
              </a:rPr>
              <a:t>Не нужно сидеть в поиске часами — достаточно открыть уведомление.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0862" y="444500"/>
            <a:ext cx="930275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16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15 / РЕЗУЛЬТАТ РАБОТЫ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Отчёт, КП и выгрузка — под вашим брендом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" y="1905000"/>
            <a:ext cx="3556000" cy="2222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1924050"/>
            <a:ext cx="3517900" cy="218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2300" y="4229100"/>
            <a:ext cx="355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Inter"/>
              </a:rPr>
              <a:t>Отчёт локации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" y="4445000"/>
            <a:ext cx="355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7C7768"/>
                </a:solidFill>
                <a:latin typeface="Inter"/>
              </a:rPr>
              <a:t>полная аналитика точки в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8000" y="1905000"/>
            <a:ext cx="3556000" cy="2222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7_k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050" y="1924050"/>
            <a:ext cx="3517900" cy="218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18000" y="4229100"/>
            <a:ext cx="355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Inter"/>
              </a:rPr>
              <a:t>Коммерческое предложение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4445000"/>
            <a:ext cx="355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7C7768"/>
                </a:solidFill>
                <a:latin typeface="Inter"/>
              </a:rPr>
              <a:t>готовое КП для клиента агента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3700" y="1905000"/>
            <a:ext cx="3556000" cy="2222500"/>
          </a:xfrm>
          <a:prstGeom prst="roundRect">
            <a:avLst>
              <a:gd name="adj" fmla="val 5714"/>
            </a:avLst>
          </a:prstGeom>
          <a:solidFill>
            <a:srgbClr val="1A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3700" y="1905000"/>
            <a:ext cx="3556000" cy="222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6BD79A"/>
                </a:solidFill>
                <a:latin typeface="Manrope"/>
              </a:rPr>
              <a:t>📊  Excel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3700" y="4229100"/>
            <a:ext cx="355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2A2A28"/>
                </a:solidFill>
                <a:latin typeface="Inter"/>
              </a:rPr>
              <a:t>Выгрузка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3700" y="4445000"/>
            <a:ext cx="355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7C7768"/>
                </a:solidFill>
                <a:latin typeface="Inter"/>
              </a:rPr>
              <a:t>объекты и баллы таблицей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00" y="4826000"/>
            <a:ext cx="1079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Логотип агентства, имя агента и описание подставляются автоматически. Продукт делает работу агента </a:t>
            </a:r>
            <a:r>
              <a:rPr sz="1600" b="1" i="0">
                <a:solidFill>
                  <a:srgbClr val="2A2A28"/>
                </a:solidFill>
                <a:latin typeface="Inter"/>
              </a:rPr>
              <a:t>презентабельной перед его клиентом</a:t>
            </a:r>
            <a:r>
              <a:rPr sz="1600" b="0" i="0">
                <a:solidFill>
                  <a:srgbClr val="2A2A28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EFE9DB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0862" y="444500"/>
            <a:ext cx="930275" cy="241300"/>
          </a:xfrm>
          <a:prstGeom prst="roundRect">
            <a:avLst>
              <a:gd name="adj" fmla="val 50000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1C"/>
                </a:solidFill>
                <a:latin typeface="Inter"/>
              </a:rPr>
              <a:t>Сравнение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20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EFE9DB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FE9DB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DD49D"/>
                </a:solidFill>
                <a:latin typeface="Inter"/>
              </a:rPr>
              <a:t>17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16 / СРАВНЕНИЕ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3848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FE9DB"/>
                </a:solidFill>
                <a:latin typeface="Manrope"/>
              </a:rPr>
              <a:t>Площадка показывает объявления. Локатор даёт решение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500" y="1498600"/>
            <a:ext cx="127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EDD49D"/>
                </a:solidFill>
                <a:latin typeface="Inter"/>
              </a:rPr>
              <a:t>ПЛОЩАДКИ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0" y="149860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EDD49D"/>
                </a:solidFill>
                <a:latin typeface="Inter"/>
              </a:rPr>
              <a:t>ЛОКАТОР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00" y="1714500"/>
            <a:ext cx="10947400" cy="254000"/>
          </a:xfrm>
          <a:prstGeom prst="roundRect">
            <a:avLst>
              <a:gd name="adj" fmla="val 30000"/>
            </a:avLst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17145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D9D3C4"/>
                </a:solidFill>
                <a:latin typeface="Inter"/>
              </a:rPr>
              <a:t>Объявления с одной базы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0500" y="1714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6BD79A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0" y="1714500"/>
            <a:ext cx="3873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6BD79A"/>
                </a:solidFill>
                <a:latin typeface="Inter"/>
              </a:rPr>
              <a:t>✓ все базы сразу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" y="2019300"/>
            <a:ext cx="10947400" cy="254000"/>
          </a:xfrm>
          <a:prstGeom prst="roundRect">
            <a:avLst>
              <a:gd name="adj" fmla="val 30000"/>
            </a:avLst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20193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D9D3C4"/>
                </a:solidFill>
                <a:latin typeface="Inter"/>
              </a:rPr>
              <a:t>Дубли между площадками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0500" y="20193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C0392B"/>
                </a:solidFill>
                <a:latin typeface="Inter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0" y="2019300"/>
            <a:ext cx="3873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6BD79A"/>
                </a:solidFill>
                <a:latin typeface="Inter"/>
              </a:rPr>
              <a:t>✓ склеиваем по фото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300" y="2324100"/>
            <a:ext cx="10947400" cy="254000"/>
          </a:xfrm>
          <a:prstGeom prst="roundRect">
            <a:avLst>
              <a:gd name="adj" fmla="val 30000"/>
            </a:avLst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23241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D9D3C4"/>
                </a:solidFill>
                <a:latin typeface="Inter"/>
              </a:rPr>
              <a:t>Фейки и посредники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0500" y="23241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C0392B"/>
                </a:solidFill>
                <a:latin typeface="Inter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0" y="2324100"/>
            <a:ext cx="3873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6BD79A"/>
                </a:solidFill>
                <a:latin typeface="Inter"/>
              </a:rPr>
              <a:t>✓ отсеиваем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300" y="2628900"/>
            <a:ext cx="10947400" cy="254000"/>
          </a:xfrm>
          <a:prstGeom prst="roundRect">
            <a:avLst>
              <a:gd name="adj" fmla="val 30000"/>
            </a:avLst>
          </a:prstGeom>
          <a:solidFill>
            <a:srgbClr val="25332A"/>
          </a:solidFill>
          <a:ln w="6350">
            <a:solidFill>
              <a:srgbClr val="6B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2628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D9D3C4"/>
                </a:solidFill>
                <a:latin typeface="Inter"/>
              </a:rPr>
              <a:t>Оценка локации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0500" y="26289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C0392B"/>
                </a:solidFill>
                <a:latin typeface="Inter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0" y="2628900"/>
            <a:ext cx="3873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6BD79A"/>
                </a:solidFill>
                <a:latin typeface="Inter"/>
              </a:rPr>
              <a:t>✓ индекс 0–100 по 5 факторам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300" y="2933700"/>
            <a:ext cx="10947400" cy="254000"/>
          </a:xfrm>
          <a:prstGeom prst="roundRect">
            <a:avLst>
              <a:gd name="adj" fmla="val 30000"/>
            </a:avLst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" y="29337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D9D3C4"/>
                </a:solidFill>
                <a:latin typeface="Inter"/>
              </a:rPr>
              <a:t>Конкуренты и ниша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0500" y="29337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C0392B"/>
                </a:solidFill>
                <a:latin typeface="Inter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0" y="2933700"/>
            <a:ext cx="3873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6BD79A"/>
                </a:solidFill>
                <a:latin typeface="Inter"/>
              </a:rPr>
              <a:t>✓ анализ окружения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300" y="3238500"/>
            <a:ext cx="10947400" cy="254000"/>
          </a:xfrm>
          <a:prstGeom prst="roundRect">
            <a:avLst>
              <a:gd name="adj" fmla="val 30000"/>
            </a:avLst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000" y="32385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D9D3C4"/>
                </a:solidFill>
                <a:latin typeface="Inter"/>
              </a:rPr>
              <a:t>Где дешевле тот же объект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70500" y="3238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C0392B"/>
                </a:solidFill>
                <a:latin typeface="Inter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0" y="3238500"/>
            <a:ext cx="3873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6BD79A"/>
                </a:solidFill>
                <a:latin typeface="Inter"/>
              </a:rPr>
              <a:t>✓ сравниваем цены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300" y="3543300"/>
            <a:ext cx="10947400" cy="254000"/>
          </a:xfrm>
          <a:prstGeom prst="roundRect">
            <a:avLst>
              <a:gd name="adj" fmla="val 30000"/>
            </a:avLst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2000" y="35433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D9D3C4"/>
                </a:solidFill>
                <a:latin typeface="Inter"/>
              </a:rPr>
              <a:t>Каннибализация своей сети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70500" y="35433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C0392B"/>
                </a:solidFill>
                <a:latin typeface="Inter"/>
              </a:rP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0" y="3543300"/>
            <a:ext cx="3873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6BD79A"/>
                </a:solidFill>
                <a:latin typeface="Inter"/>
              </a:rPr>
              <a:t>✓ есть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2300" y="3848100"/>
            <a:ext cx="10947400" cy="254000"/>
          </a:xfrm>
          <a:prstGeom prst="roundRect">
            <a:avLst>
              <a:gd name="adj" fmla="val 30000"/>
            </a:avLst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0" y="38481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D9D3C4"/>
                </a:solidFill>
                <a:latin typeface="Inter"/>
              </a:rPr>
              <a:t>Мониторинг и уведомления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0500" y="38481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8A8F84"/>
                </a:solidFill>
                <a:latin typeface="Inter"/>
              </a:rPr>
              <a:t>частично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0" y="3848100"/>
            <a:ext cx="3873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6BD79A"/>
                </a:solidFill>
                <a:latin typeface="Inter"/>
              </a:rPr>
              <a:t>✓ по вашему запросу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2300" y="4152900"/>
            <a:ext cx="10947400" cy="254000"/>
          </a:xfrm>
          <a:prstGeom prst="roundRect">
            <a:avLst>
              <a:gd name="adj" fmla="val 30000"/>
            </a:avLst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0" y="4152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D9D3C4"/>
                </a:solidFill>
                <a:latin typeface="Inter"/>
              </a:rPr>
              <a:t>Отчёт и КП под свой бренд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70500" y="41529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C0392B"/>
                </a:solidFill>
                <a:latin typeface="Inter"/>
              </a:rPr>
              <a:t>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0000" y="4152900"/>
            <a:ext cx="3873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6BD79A"/>
                </a:solidFill>
                <a:latin typeface="Inter"/>
              </a:rPr>
              <a:t>✓ есть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2300" y="4495800"/>
            <a:ext cx="1079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1" i="0">
                <a:solidFill>
                  <a:srgbClr val="6BD79A"/>
                </a:solidFill>
                <a:latin typeface="Inter"/>
              </a:rPr>
              <a:t>Мы не конкурируем с площадками. Мы — слой поверх них.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A2A28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30838" y="444500"/>
            <a:ext cx="1330325" cy="24130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Inter"/>
              </a:rPr>
              <a:t>Выгода по ролям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2A28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A2A28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B98F3E"/>
                </a:solidFill>
                <a:latin typeface="Inter"/>
              </a:rPr>
              <a:t>18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952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17 / ВЫГОДА ПО РОЛЯМ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155700"/>
            <a:ext cx="10947400" cy="4259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2A2A28"/>
                </a:solidFill>
                <a:latin typeface="Manrope"/>
              </a:rPr>
              <a:t>Три роли — три выгоды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" y="2032000"/>
            <a:ext cx="3556000" cy="228600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900" y="21844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F6B4A"/>
                </a:solidFill>
                <a:latin typeface="Inter"/>
              </a:rPr>
              <a:t>🏗️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0" y="2628900"/>
            <a:ext cx="3098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60" b="1" i="0">
                <a:solidFill>
                  <a:srgbClr val="2A2A28"/>
                </a:solidFill>
                <a:latin typeface="Manrope"/>
              </a:rPr>
              <a:t>Франшизе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900" y="3035300"/>
            <a:ext cx="30988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Отбор локаций по индексу и отказ на слабых точках до аренды, а не после провала.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8000" y="2032000"/>
            <a:ext cx="3556000" cy="2286000"/>
          </a:xfrm>
          <a:prstGeom prst="roundRect">
            <a:avLst>
              <a:gd name="adj" fmla="val 6111"/>
            </a:avLst>
          </a:prstGeom>
          <a:solidFill>
            <a:srgbClr val="1A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6600" y="21844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6BD79A"/>
                </a:solidFill>
                <a:latin typeface="Inter"/>
              </a:rP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600" y="2628900"/>
            <a:ext cx="3098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60" b="1" i="0">
                <a:solidFill>
                  <a:srgbClr val="EFE9DB"/>
                </a:solidFill>
                <a:latin typeface="Manrope"/>
              </a:rPr>
              <a:t>Сети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600" y="3035300"/>
            <a:ext cx="30988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FE9DB"/>
                </a:solidFill>
                <a:latin typeface="Inter"/>
              </a:rPr>
              <a:t>Экспансия без каннибализации и единый стандарт оценки всех точек.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3700" y="2032000"/>
            <a:ext cx="3556000" cy="228600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9525">
            <a:solidFill>
              <a:srgbClr val="E2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2300" y="21844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F6B4A"/>
                </a:solidFill>
                <a:latin typeface="Inter"/>
              </a:rPr>
              <a:t>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2300" y="2628900"/>
            <a:ext cx="3098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60" b="1" i="0">
                <a:solidFill>
                  <a:srgbClr val="2A2A28"/>
                </a:solidFill>
                <a:latin typeface="Manrope"/>
              </a:rPr>
              <a:t>Агенту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2300" y="3035300"/>
            <a:ext cx="30988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2A28"/>
                </a:solidFill>
                <a:latin typeface="Inter"/>
              </a:rPr>
              <a:t>Меньше времени на поиск, больше клиентов в работе и готовое КП под рукой.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3386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2300" y="419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EFE9DB"/>
                </a:solidFill>
                <a:latin typeface="Manrope"/>
              </a:rPr>
              <a:t>ЛОКАТОР</a:t>
            </a:r>
            <a:r>
              <a:rPr sz="1680" b="1" i="0">
                <a:solidFill>
                  <a:srgbClr val="C0392B"/>
                </a:solidFill>
                <a:latin typeface="Manrope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587500" y="520700"/>
            <a:ext cx="69850" cy="69850"/>
          </a:xfrm>
          <a:prstGeom prst="ellipse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" y="520700"/>
            <a:ext cx="69850" cy="69850"/>
          </a:xfrm>
          <a:prstGeom prst="ellipse">
            <a:avLst/>
          </a:prstGeom>
          <a:solidFill>
            <a:srgbClr val="B98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3400" y="520700"/>
            <a:ext cx="69850" cy="698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64188" y="444500"/>
            <a:ext cx="1063625" cy="241300"/>
          </a:xfrm>
          <a:prstGeom prst="roundRect">
            <a:avLst>
              <a:gd name="adj" fmla="val 50000"/>
            </a:avLst>
          </a:prstGeom>
          <a:solidFill>
            <a:srgbClr val="6B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1C"/>
                </a:solidFill>
                <a:latin typeface="Inter"/>
              </a:rPr>
              <a:t>Попробовать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39500" y="463550"/>
            <a:ext cx="241300" cy="241300"/>
          </a:xfrm>
          <a:prstGeom prst="roundRect">
            <a:avLst>
              <a:gd name="adj" fmla="val 31578"/>
            </a:avLst>
          </a:prstGeom>
          <a:solidFill>
            <a:srgbClr val="20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EFE9DB"/>
                </a:solidFill>
                <a:latin typeface="Inter"/>
              </a:rPr>
              <a:t>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8600" y="469900"/>
            <a:ext cx="7620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FE9DB"/>
                </a:solidFill>
                <a:latin typeface="Inter"/>
              </a:rPr>
              <a:t>Контакты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0" y="6350000"/>
            <a:ext cx="14097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DD49D"/>
                </a:solidFill>
                <a:latin typeface="Inter"/>
              </a:rPr>
              <a:t>19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1587500"/>
            <a:ext cx="6350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B98F3E"/>
                </a:solidFill>
                <a:latin typeface="Inter"/>
              </a:rPr>
              <a:t>18 / ПОПРОБОВАТЬ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1841500"/>
            <a:ext cx="6985000" cy="569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 i="0">
                <a:solidFill>
                  <a:srgbClr val="EFE9DB"/>
                </a:solidFill>
                <a:latin typeface="Manrope"/>
              </a:rPr>
              <a:t>Бесплатный тест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" y="2335276"/>
            <a:ext cx="6985000" cy="569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 i="0">
                <a:solidFill>
                  <a:srgbClr val="EFE9DB"/>
                </a:solidFill>
                <a:latin typeface="Manrope"/>
              </a:rPr>
              <a:t>на вашем районе</a:t>
            </a:r>
          </a:p>
        </p:txBody>
      </p:sp>
      <p:sp>
        <p:nvSpPr>
          <p:cNvPr id="14" name="Oval 13"/>
          <p:cNvSpPr/>
          <p:nvPr/>
        </p:nvSpPr>
        <p:spPr>
          <a:xfrm>
            <a:off x="622300" y="3006852"/>
            <a:ext cx="190500" cy="190500"/>
          </a:xfrm>
          <a:prstGeom prst="ellipse">
            <a:avLst/>
          </a:prstGeom>
          <a:solidFill>
            <a:srgbClr val="F4EEE1"/>
          </a:solidFill>
          <a:ln w="635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9000" y="3006852"/>
            <a:ext cx="190500" cy="190500"/>
          </a:xfrm>
          <a:prstGeom prst="ellipse">
            <a:avLst/>
          </a:prstGeom>
          <a:solidFill>
            <a:srgbClr val="B98F3E"/>
          </a:solidFill>
          <a:ln w="635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5700" y="3006852"/>
            <a:ext cx="190500" cy="190500"/>
          </a:xfrm>
          <a:prstGeom prst="ellipse">
            <a:avLst/>
          </a:prstGeom>
          <a:solidFill>
            <a:srgbClr val="1B2C3F"/>
          </a:solidFill>
          <a:ln w="635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22400" y="3006852"/>
            <a:ext cx="190500" cy="190500"/>
          </a:xfrm>
          <a:prstGeom prst="ellipse">
            <a:avLst/>
          </a:prstGeom>
          <a:solidFill>
            <a:srgbClr val="C0392B"/>
          </a:solidFill>
          <a:ln w="635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300" y="3413252"/>
            <a:ext cx="6223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C9C4B7"/>
                </a:solidFill>
                <a:latin typeface="Inter"/>
              </a:rPr>
              <a:t>Пришлите один запрос — вернём подборку с баллами и отчёт по локации.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0" y="3556000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C9C4B7"/>
                </a:solidFill>
                <a:latin typeface="Inter"/>
              </a:rPr>
              <a:t>VKontakte · Telegram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0500" y="3937000"/>
            <a:ext cx="2159000" cy="5080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FFFFFF"/>
                </a:solidFill>
                <a:latin typeface="Manrope"/>
              </a:rPr>
              <a:t>Отправить запрос</a:t>
            </a:r>
          </a:p>
        </p:txBody>
      </p:sp>
      <p:sp>
        <p:nvSpPr>
          <p:cNvPr id="21" name="Oval 20"/>
          <p:cNvSpPr/>
          <p:nvPr/>
        </p:nvSpPr>
        <p:spPr>
          <a:xfrm>
            <a:off x="10096500" y="4000500"/>
            <a:ext cx="381000" cy="381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6500" y="40005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FFFF"/>
                </a:solidFill>
                <a:latin typeface="Inter"/>
              </a:rPr>
              <a:t>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